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y="5143500" cx="9144000"/>
  <p:notesSz cx="6858000" cy="9144000"/>
  <p:embeddedFontLst>
    <p:embeddedFont>
      <p:font typeface="Raleway"/>
      <p:regular r:id="rId33"/>
      <p:bold r:id="rId34"/>
      <p:italic r:id="rId35"/>
      <p:boldItalic r:id="rId36"/>
    </p:embeddedFont>
    <p:embeddedFont>
      <p:font typeface="Raleway SemiBold"/>
      <p:regular r:id="rId37"/>
      <p:bold r:id="rId38"/>
      <p:italic r:id="rId39"/>
      <p:boldItalic r:id="rId40"/>
    </p:embeddedFont>
    <p:embeddedFont>
      <p:font typeface="Poppins"/>
      <p:regular r:id="rId41"/>
      <p:bold r:id="rId42"/>
      <p:italic r:id="rId43"/>
      <p:boldItalic r:id="rId44"/>
    </p:embeddedFont>
    <p:embeddedFont>
      <p:font typeface="Poppins Medium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56">
          <p15:clr>
            <a:srgbClr val="9AA0A6"/>
          </p15:clr>
        </p15:guide>
        <p15:guide id="2" pos="737">
          <p15:clr>
            <a:srgbClr val="9AA0A6"/>
          </p15:clr>
        </p15:guide>
        <p15:guide id="3" pos="5587">
          <p15:clr>
            <a:srgbClr val="9AA0A6"/>
          </p15:clr>
        </p15:guide>
        <p15:guide id="4" orient="horz" pos="3084">
          <p15:clr>
            <a:srgbClr val="9AA0A6"/>
          </p15:clr>
        </p15:guide>
        <p15:guide id="5" orient="horz" pos="540">
          <p15:clr>
            <a:srgbClr val="9AA0A6"/>
          </p15:clr>
        </p15:guide>
      </p15:sldGuideLst>
    </p:ext>
    <p:ext uri="GoogleSlidesCustomDataVersion2">
      <go:slidesCustomData xmlns:go="http://customooxmlschemas.google.com/" r:id="rId49" roundtripDataSignature="AMtx7mj4r62LvbmnmAs5FwH3ILzgEilzI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Javier Lopez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857E42F-B209-4388-9766-A26FF987B545}">
  <a:tblStyle styleId="{8857E42F-B209-4388-9766-A26FF987B545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1E8"/>
          </a:solidFill>
        </a:fill>
      </a:tcStyle>
    </a:wholeTbl>
    <a:band1H>
      <a:tcTxStyle/>
      <a:tcStyle>
        <a:fill>
          <a:solidFill>
            <a:srgbClr val="FFE2CD"/>
          </a:solidFill>
        </a:fill>
      </a:tcStyle>
    </a:band1H>
    <a:band2H>
      <a:tcTxStyle/>
    </a:band2H>
    <a:band1V>
      <a:tcTxStyle/>
      <a:tcStyle>
        <a:fill>
          <a:solidFill>
            <a:srgbClr val="FFE2CD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56" orient="horz"/>
        <p:guide pos="737"/>
        <p:guide pos="5587"/>
        <p:guide pos="3084" orient="horz"/>
        <p:guide pos="54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SemiBold-boldItalic.fntdata"/><Relationship Id="rId42" Type="http://schemas.openxmlformats.org/officeDocument/2006/relationships/font" Target="fonts/Poppins-bold.fntdata"/><Relationship Id="rId41" Type="http://schemas.openxmlformats.org/officeDocument/2006/relationships/font" Target="fonts/Poppins-regular.fntdata"/><Relationship Id="rId44" Type="http://schemas.openxmlformats.org/officeDocument/2006/relationships/font" Target="fonts/Poppins-boldItalic.fntdata"/><Relationship Id="rId43" Type="http://schemas.openxmlformats.org/officeDocument/2006/relationships/font" Target="fonts/Poppins-italic.fntdata"/><Relationship Id="rId46" Type="http://schemas.openxmlformats.org/officeDocument/2006/relationships/font" Target="fonts/PoppinsMedium-bold.fntdata"/><Relationship Id="rId45" Type="http://schemas.openxmlformats.org/officeDocument/2006/relationships/font" Target="fonts/PoppinsMediu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PoppinsMedium-boldItalic.fntdata"/><Relationship Id="rId47" Type="http://schemas.openxmlformats.org/officeDocument/2006/relationships/font" Target="fonts/PoppinsMedium-italic.fntdata"/><Relationship Id="rId49" Type="http://customschemas.google.com/relationships/presentationmetadata" Target="metadata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font" Target="fonts/Raleway-regular.fntdata"/><Relationship Id="rId32" Type="http://schemas.openxmlformats.org/officeDocument/2006/relationships/slide" Target="slides/slide25.xml"/><Relationship Id="rId35" Type="http://schemas.openxmlformats.org/officeDocument/2006/relationships/font" Target="fonts/Raleway-italic.fntdata"/><Relationship Id="rId34" Type="http://schemas.openxmlformats.org/officeDocument/2006/relationships/font" Target="fonts/Raleway-bold.fntdata"/><Relationship Id="rId37" Type="http://schemas.openxmlformats.org/officeDocument/2006/relationships/font" Target="fonts/RalewaySemiBold-regular.fntdata"/><Relationship Id="rId36" Type="http://schemas.openxmlformats.org/officeDocument/2006/relationships/font" Target="fonts/Raleway-boldItalic.fntdata"/><Relationship Id="rId39" Type="http://schemas.openxmlformats.org/officeDocument/2006/relationships/font" Target="fonts/RalewaySemiBold-italic.fntdata"/><Relationship Id="rId38" Type="http://schemas.openxmlformats.org/officeDocument/2006/relationships/font" Target="fonts/RalewaySemiBold-bold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6-23T21:13:17.650">
    <p:pos x="6000" y="0"/>
    <p:text>@cyntia.barroso@redtecnologica.org Buenas Cyntia, ya estaria listo este pptx, comentame que opinas, saludos!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-PEnMzk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3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3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3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3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3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Relationship Id="rId4" Type="http://schemas.openxmlformats.org/officeDocument/2006/relationships/hyperlink" Target="http://www.centrodeelearning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-US" sz="32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Git Avanzado: Ramas y Colaboración</a:t>
            </a:r>
            <a:r>
              <a:rPr b="1" i="0" lang="en-US" sz="32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 🌿</a:t>
            </a:r>
            <a:endParaRPr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0" lang="en-US" sz="20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Módulo 1: Arquitectura y Maquetación Moderna</a:t>
            </a:r>
            <a:endParaRPr/>
          </a:p>
        </p:txBody>
      </p:sp>
      <p:sp>
        <p:nvSpPr>
          <p:cNvPr id="56" name="Google Shape;56;p1"/>
          <p:cNvSpPr txBox="1"/>
          <p:nvPr/>
        </p:nvSpPr>
        <p:spPr>
          <a:xfrm>
            <a:off x="685800" y="4823460"/>
            <a:ext cx="61630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03  /  Git Avanzado — Trabajo en Equipo 🌿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 txBox="1"/>
          <p:nvPr/>
        </p:nvSpPr>
        <p:spPr>
          <a:xfrm>
            <a:off x="3782463" y="1119842"/>
            <a:ext cx="3933900" cy="12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400" u="none" cap="none" strike="noStrike">
                <a:solidFill>
                  <a:srgbClr val="353744"/>
                </a:solidFill>
                <a:latin typeface="Poppins"/>
                <a:ea typeface="Poppins"/>
                <a:cs typeface="Poppins"/>
                <a:sym typeface="Poppins"/>
              </a:rPr>
              <a:t>Clase 03</a:t>
            </a:r>
            <a:endParaRPr b="1" i="0" sz="3400" u="none" cap="none" strike="noStrike">
              <a:solidFill>
                <a:srgbClr val="35374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3822300" y="1786150"/>
            <a:ext cx="4210500" cy="12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3744"/>
              </a:buClr>
              <a:buSzPts val="1400"/>
              <a:buFont typeface="Arial"/>
              <a:buNone/>
            </a:pPr>
            <a:r>
              <a:rPr b="1" i="0" lang="en-US" sz="95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Objetivos de la Clase</a:t>
            </a:r>
            <a:endParaRPr b="0" i="0" sz="1500" u="none" cap="none" strike="noStrike">
              <a:solidFill>
                <a:srgbClr val="353744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95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El Problema del Trabajo en Paralelo</a:t>
            </a:r>
            <a:endParaRPr sz="15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95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¿Qué es una Rama? (El Multiverso)</a:t>
            </a:r>
            <a:endParaRPr sz="15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95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Comandos Esenciales de Ramas</a:t>
            </a:r>
            <a:endParaRPr sz="15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95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Los Conflictos: ¿Qué son?</a:t>
            </a:r>
            <a:endParaRPr sz="15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95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Cómo se ve un Conflicto en el Código</a:t>
            </a:r>
            <a:endParaRPr sz="15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95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Checkpoint de Procesos</a:t>
            </a:r>
            <a:endParaRPr sz="15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95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Pull Requests (PRs) en GitHub</a:t>
            </a:r>
            <a:endParaRPr sz="15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95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git stash: El Cajón de las Ideas a Medias</a:t>
            </a:r>
            <a:endParaRPr sz="1500"/>
          </a:p>
        </p:txBody>
      </p:sp>
      <p:pic>
        <p:nvPicPr>
          <p:cNvPr id="63" name="Google Shape;63;p2"/>
          <p:cNvPicPr preferRelativeResize="0"/>
          <p:nvPr/>
        </p:nvPicPr>
        <p:blipFill rotWithShape="1">
          <a:blip r:embed="rId3">
            <a:alphaModFix/>
          </a:blip>
          <a:srcRect b="1028" l="18181" r="18181" t="1019"/>
          <a:stretch/>
        </p:blipFill>
        <p:spPr>
          <a:xfrm>
            <a:off x="551650" y="1066225"/>
            <a:ext cx="2638500" cy="270765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"/>
          <p:cNvSpPr txBox="1"/>
          <p:nvPr/>
        </p:nvSpPr>
        <p:spPr>
          <a:xfrm>
            <a:off x="685800" y="4823460"/>
            <a:ext cx="61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03  /  Git Avanzado — Trabajo en Equipo 🌿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26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Objetivos de la Clase</a:t>
            </a:r>
            <a:endParaRPr/>
          </a:p>
        </p:txBody>
      </p:sp>
      <p:sp>
        <p:nvSpPr>
          <p:cNvPr id="70" name="Google Shape;70;p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03  /  Git Avanzado — Trabajo en Equipo 🌿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en-US" sz="20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Objetivos de la Clase</a:t>
            </a:r>
            <a:endParaRPr/>
          </a:p>
        </p:txBody>
      </p:sp>
      <p:sp>
        <p:nvSpPr>
          <p:cNvPr id="76" name="Google Shape;76;p4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03  /  Git Avanzado — Trabajo en Equipo 🌿</a:t>
            </a:r>
            <a:endParaRPr/>
          </a:p>
        </p:txBody>
      </p:sp>
      <p:sp>
        <p:nvSpPr>
          <p:cNvPr id="77" name="Google Shape;77;p4"/>
          <p:cNvSpPr txBox="1"/>
          <p:nvPr/>
        </p:nvSpPr>
        <p:spPr>
          <a:xfrm>
            <a:off x="310896" y="1280160"/>
            <a:ext cx="8522100" cy="10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Comprender el flujo de trabajo colaborativo profesional.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Dominar el uso de ramas (branches) para desarrollo en paralelo.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Resolver conflictos de código de forma manual y segura.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Crear y revisar un Pull Request (PR) en GitHub.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Utilizar git stash para resguardar cambios temporales.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26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El Problema del Trabajo en Paralelo</a:t>
            </a:r>
            <a:endParaRPr/>
          </a:p>
        </p:txBody>
      </p:sp>
      <p:sp>
        <p:nvSpPr>
          <p:cNvPr id="83" name="Google Shape;83;p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03  /  Git Avanzado — Trabajo en Equipo 🌿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en-US" sz="20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El Problema del Trabajo en Paralelo</a:t>
            </a:r>
            <a:endParaRPr/>
          </a:p>
        </p:txBody>
      </p:sp>
      <p:sp>
        <p:nvSpPr>
          <p:cNvPr id="89" name="Google Shape;89;p6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03  /  Git Avanzado — Trabajo en Equipo 🌿</a:t>
            </a:r>
            <a:endParaRPr/>
          </a:p>
        </p:txBody>
      </p:sp>
      <p:sp>
        <p:nvSpPr>
          <p:cNvPr id="90" name="Google Shape;90;p6"/>
          <p:cNvSpPr txBox="1"/>
          <p:nvPr/>
        </p:nvSpPr>
        <p:spPr>
          <a:xfrm>
            <a:off x="310896" y="1280160"/>
            <a:ext cx="8522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Imagina a </a:t>
            </a:r>
            <a:r>
              <a:rPr lang="en-US" sz="13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d</a:t>
            </a:r>
            <a:r>
              <a:rPr b="0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os programadores modificando el mismo archivo al mismo tiempo.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Flujo tradicional sin Git: </a:t>
            </a:r>
            <a:r>
              <a:rPr b="0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El último en guardar pisa y destruye el trabajo del anterior.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Solución Profesional: </a:t>
            </a:r>
            <a:r>
              <a:rPr b="0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Aislar el trabajo de cada desarrollador en líneas temporales paralelas (ramas/branches).</a:t>
            </a:r>
            <a:endParaRPr sz="1600"/>
          </a:p>
        </p:txBody>
      </p:sp>
      <p:pic>
        <p:nvPicPr>
          <p:cNvPr id="91" name="Google Shape;91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5450" y="2157010"/>
            <a:ext cx="4867275" cy="22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26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¿Qué es una Rama? (El Multiverso) 🌿</a:t>
            </a:r>
            <a:endParaRPr/>
          </a:p>
        </p:txBody>
      </p:sp>
      <p:sp>
        <p:nvSpPr>
          <p:cNvPr id="97" name="Google Shape;97;p7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03  /  Git Avanzado — Trabajo en Equipo 🌿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en-US" sz="20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¿Qué es una Rama? (El Multiverso) 🌿</a:t>
            </a:r>
            <a:endParaRPr/>
          </a:p>
        </p:txBody>
      </p:sp>
      <p:sp>
        <p:nvSpPr>
          <p:cNvPr id="103" name="Google Shape;103;p8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03  /  Git Avanzado — Trabajo en Equipo 🌿</a:t>
            </a:r>
            <a:endParaRPr/>
          </a:p>
        </p:txBody>
      </p:sp>
      <p:sp>
        <p:nvSpPr>
          <p:cNvPr id="104" name="Google Shape;104;p8"/>
          <p:cNvSpPr txBox="1"/>
          <p:nvPr/>
        </p:nvSpPr>
        <p:spPr>
          <a:xfrm>
            <a:off x="310896" y="1280160"/>
            <a:ext cx="85221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Una Rama (Branch) es una línea de tiempo independiente.</a:t>
            </a:r>
            <a:endParaRPr b="0" i="0" sz="1300" u="none" cap="none" strike="noStrike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La rama por defecto es </a:t>
            </a:r>
            <a:r>
              <a:rPr lang="en-US" sz="13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master. </a:t>
            </a:r>
            <a:endParaRPr sz="1300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Esta es la </a:t>
            </a:r>
            <a:r>
              <a:rPr b="1" lang="en-US" sz="13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fuente de la verdad</a:t>
            </a:r>
            <a:r>
              <a:rPr lang="en-US" sz="13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 del proyecto y la rama </a:t>
            </a:r>
            <a:r>
              <a:rPr b="1" lang="en-US" sz="13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más estable</a:t>
            </a:r>
            <a:r>
              <a:rPr lang="en-US" sz="13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 del repositorio. Contiene únicamente código </a:t>
            </a:r>
            <a:r>
              <a:rPr b="1" lang="en-US" sz="13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consolidado </a:t>
            </a:r>
            <a:r>
              <a:rPr lang="en-US" sz="13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y </a:t>
            </a:r>
            <a:r>
              <a:rPr b="1" lang="en-US" sz="13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testeado </a:t>
            </a:r>
            <a:r>
              <a:rPr lang="en-US" sz="13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que ha pasado los controles de calidad. Funciona como la rama </a:t>
            </a:r>
            <a:r>
              <a:rPr b="1" lang="en-US" sz="13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base </a:t>
            </a:r>
            <a:r>
              <a:rPr lang="en-US" sz="13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de producción y el punto de partida obligatorio para el desarrollo de cualquier nueva funcionalidad o corrección. </a:t>
            </a:r>
            <a:endParaRPr sz="1300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A partir de esta </a:t>
            </a:r>
            <a:r>
              <a:rPr lang="en-US" sz="13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c</a:t>
            </a:r>
            <a:r>
              <a:rPr b="0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reamos ramas secundarias para desarrollar funciones sin romper el código estable.</a:t>
            </a:r>
            <a:endParaRPr sz="1600"/>
          </a:p>
        </p:txBody>
      </p:sp>
      <p:sp>
        <p:nvSpPr>
          <p:cNvPr id="105" name="Google Shape;105;p8"/>
          <p:cNvSpPr/>
          <p:nvPr/>
        </p:nvSpPr>
        <p:spPr>
          <a:xfrm>
            <a:off x="319971" y="3539970"/>
            <a:ext cx="91500" cy="793800"/>
          </a:xfrm>
          <a:prstGeom prst="rect">
            <a:avLst/>
          </a:prstGeom>
          <a:solidFill>
            <a:srgbClr val="4CAF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411425" y="3539970"/>
            <a:ext cx="8412600" cy="793800"/>
          </a:xfrm>
          <a:prstGeom prst="rect">
            <a:avLst/>
          </a:prstGeom>
          <a:solidFill>
            <a:srgbClr val="E9F5E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8"/>
          <p:cNvSpPr txBox="1"/>
          <p:nvPr/>
        </p:nvSpPr>
        <p:spPr>
          <a:xfrm>
            <a:off x="484575" y="3576561"/>
            <a:ext cx="8229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CAF50"/>
                </a:solidFill>
                <a:latin typeface="Poppins"/>
                <a:ea typeface="Poppins"/>
                <a:cs typeface="Poppins"/>
                <a:sym typeface="Poppins"/>
              </a:rPr>
              <a:t>💡 TIP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Dato Pro:</a:t>
            </a:r>
            <a:r>
              <a:rPr b="0" i="0" lang="en-US" sz="12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 En la industria, está terminantemente prohibido hacer commits directos a la rama `</a:t>
            </a:r>
            <a:r>
              <a:rPr lang="en-US" sz="12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master</a:t>
            </a:r>
            <a:r>
              <a:rPr b="0" i="0" lang="en-US" sz="12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`. Todo cambio debe pasar primero por una rama de desarrollo</a:t>
            </a:r>
            <a:r>
              <a:rPr lang="en-US" sz="12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, luego tus colegas deben revisar tus cambios y antes de pasar a master algun tester/QA realiza las pruebas.</a:t>
            </a:r>
            <a:r>
              <a:rPr b="0" i="0" lang="en-US" sz="12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26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Comandos Esenciales de Ramas 📋</a:t>
            </a:r>
            <a:endParaRPr/>
          </a:p>
        </p:txBody>
      </p:sp>
      <p:sp>
        <p:nvSpPr>
          <p:cNvPr id="113" name="Google Shape;113;p9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03  /  Git Avanzado — Trabajo en Equipo 🌿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en-US" sz="20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Comandos Esenciales de Ramas 📋</a:t>
            </a:r>
            <a:endParaRPr/>
          </a:p>
        </p:txBody>
      </p:sp>
      <p:sp>
        <p:nvSpPr>
          <p:cNvPr id="119" name="Google Shape;119;p10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03  /  Git Avanzado — Trabajo en Equipo 🌿</a:t>
            </a:r>
            <a:endParaRPr/>
          </a:p>
        </p:txBody>
      </p:sp>
      <p:graphicFrame>
        <p:nvGraphicFramePr>
          <p:cNvPr id="120" name="Google Shape;120;p10"/>
          <p:cNvGraphicFramePr/>
          <p:nvPr/>
        </p:nvGraphicFramePr>
        <p:xfrm>
          <a:off x="457200" y="12801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{8857E42F-B209-4388-9766-A26FF987B545}</a:tableStyleId>
              </a:tblPr>
              <a:tblGrid>
                <a:gridCol w="4114800"/>
                <a:gridCol w="4114800"/>
              </a:tblGrid>
              <a:tr h="344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Comando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353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¿Qué hace?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353744"/>
                    </a:solidFill>
                  </a:tcPr>
                </a:tc>
              </a:tr>
              <a:tr h="344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>
                          <a:solidFill>
                            <a:srgbClr val="35374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git branch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>
                          <a:solidFill>
                            <a:srgbClr val="35374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Lista todas las ramas locales (la activa tiene un asterisco).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344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>
                          <a:solidFill>
                            <a:srgbClr val="35374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git checkout -b &lt;nueva-rama&gt;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>
                          <a:solidFill>
                            <a:srgbClr val="35374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Crea una nueva rama y se traslada a ella de inmediato.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344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>
                          <a:solidFill>
                            <a:srgbClr val="35374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git checkout &lt;rama-existente&gt;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>
                          <a:solidFill>
                            <a:srgbClr val="35374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Cambia de línea temporal (viaja entre ramas).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344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>
                          <a:solidFill>
                            <a:srgbClr val="35374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git merge &lt;rama-a-traer&gt;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>
                          <a:solidFill>
                            <a:srgbClr val="35374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Fusiona la rama indicada dentro de la rama en la que estás parado.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344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>
                          <a:solidFill>
                            <a:srgbClr val="35374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git branch -d &lt;rama-vieja&gt;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>
                          <a:solidFill>
                            <a:srgbClr val="35374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Elimina la rama local seleccionada (usar una vez fusionada).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26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Los Conflictos: ¿Qué son? ⚡</a:t>
            </a:r>
            <a:endParaRPr/>
          </a:p>
        </p:txBody>
      </p:sp>
      <p:sp>
        <p:nvSpPr>
          <p:cNvPr id="126" name="Google Shape;126;p11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03  /  Git Avanzado — Trabajo en Equipo 🌿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en-US" sz="20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Los Conflictos: ¿Qué son? ⚡</a:t>
            </a:r>
            <a:endParaRPr/>
          </a:p>
        </p:txBody>
      </p:sp>
      <p:sp>
        <p:nvSpPr>
          <p:cNvPr id="132" name="Google Shape;132;p12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03  /  Git Avanzado — Trabajo en Equipo 🌿</a:t>
            </a:r>
            <a:endParaRPr/>
          </a:p>
        </p:txBody>
      </p:sp>
      <p:sp>
        <p:nvSpPr>
          <p:cNvPr id="133" name="Google Shape;133;p12"/>
          <p:cNvSpPr txBox="1"/>
          <p:nvPr/>
        </p:nvSpPr>
        <p:spPr>
          <a:xfrm>
            <a:off x="310946" y="1029373"/>
            <a:ext cx="85221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</a:t>
            </a:r>
            <a:r>
              <a:rPr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Un conflicto de Git es una situación que ocurre cuando </a:t>
            </a:r>
            <a:r>
              <a:rPr b="1"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Git </a:t>
            </a:r>
            <a:r>
              <a:rPr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no puede </a:t>
            </a:r>
            <a:r>
              <a:rPr b="1"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fusionar </a:t>
            </a:r>
            <a:r>
              <a:rPr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(merge) automáticamente dos cambios en el mismo archivo.</a:t>
            </a:r>
            <a:endParaRPr sz="1100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Git se detiene, levanta las manos y dice: "</a:t>
            </a:r>
            <a:r>
              <a:rPr i="1"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Dos personas (o tú mismo en dos ramas distintas) </a:t>
            </a:r>
            <a:r>
              <a:rPr b="1" i="1"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modificaron </a:t>
            </a:r>
            <a:r>
              <a:rPr i="1"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la misma línea de código de formas </a:t>
            </a:r>
            <a:r>
              <a:rPr b="1" i="1"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diferentes</a:t>
            </a:r>
            <a:r>
              <a:rPr i="1"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, y yo no sé cuál es la </a:t>
            </a:r>
            <a:r>
              <a:rPr b="1" i="1"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correcta</a:t>
            </a:r>
            <a:r>
              <a:rPr i="1"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. </a:t>
            </a:r>
            <a:r>
              <a:rPr i="1" lang="en-US" sz="1100" u="sng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Por favor, decídelo tú. Yo no voy a adivinar"</a:t>
            </a:r>
            <a:r>
              <a:rPr i="1"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  <a:endParaRPr/>
          </a:p>
        </p:txBody>
      </p:sp>
      <p:pic>
        <p:nvPicPr>
          <p:cNvPr id="134" name="Google Shape;134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8813" y="2514219"/>
            <a:ext cx="2166365" cy="2166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26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Cómo se ve un Conflicto en el Código</a:t>
            </a:r>
            <a:endParaRPr/>
          </a:p>
        </p:txBody>
      </p:sp>
      <p:sp>
        <p:nvSpPr>
          <p:cNvPr id="140" name="Google Shape;140;p13"/>
          <p:cNvSpPr txBox="1"/>
          <p:nvPr/>
        </p:nvSpPr>
        <p:spPr>
          <a:xfrm>
            <a:off x="365760" y="4823460"/>
            <a:ext cx="8412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03  /  Git Avanzado — Trabajo en Equipo 🌿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en-US" sz="20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Cómo se ve un Conflicto en el Código</a:t>
            </a:r>
            <a:endParaRPr/>
          </a:p>
        </p:txBody>
      </p:sp>
      <p:sp>
        <p:nvSpPr>
          <p:cNvPr id="146" name="Google Shape;146;p14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03  /  Git Avanzado — Trabajo en Equipo 🌿</a:t>
            </a:r>
            <a:endParaRPr/>
          </a:p>
        </p:txBody>
      </p:sp>
      <p:sp>
        <p:nvSpPr>
          <p:cNvPr id="147" name="Google Shape;147;p14"/>
          <p:cNvSpPr txBox="1"/>
          <p:nvPr/>
        </p:nvSpPr>
        <p:spPr>
          <a:xfrm>
            <a:off x="310896" y="1280160"/>
            <a:ext cx="8522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VS Code detecta el conflicto y te muestra las opciones con marcadores especiales </a:t>
            </a:r>
            <a:r>
              <a:rPr b="1"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“</a:t>
            </a:r>
            <a:r>
              <a:rPr b="1" i="0" lang="en-US" sz="11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&lt;</a:t>
            </a:r>
            <a:r>
              <a:rPr b="1"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”</a:t>
            </a:r>
            <a:r>
              <a:rPr b="1" i="0" lang="en-US" sz="11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 y </a:t>
            </a:r>
            <a:r>
              <a:rPr b="1"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“</a:t>
            </a:r>
            <a:r>
              <a:rPr b="1" i="0" lang="en-US" sz="11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&gt;</a:t>
            </a:r>
            <a:r>
              <a:rPr b="1"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”.</a:t>
            </a:r>
            <a:r>
              <a:rPr b="1" i="0" lang="en-US" sz="11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/>
          </a:p>
        </p:txBody>
      </p:sp>
      <p:pic>
        <p:nvPicPr>
          <p:cNvPr id="148" name="Google Shape;14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0" y="2083565"/>
            <a:ext cx="7524750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en-US" sz="20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Cómo se ve un Conflicto en el Código (cont.)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03  /  Git Avanzado — Trabajo en Equipo 🌿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310946" y="1065835"/>
            <a:ext cx="85221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HEAD: </a:t>
            </a:r>
            <a:r>
              <a:rPr b="0" i="0" lang="en-US" sz="11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Tu código actual donde estás parado (Current Change).</a:t>
            </a:r>
            <a:endParaRPr b="0" i="0" sz="1100" u="none" cap="none" strike="noStrike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==== (Separador): Limita ambas versiones.</a:t>
            </a:r>
            <a:endParaRPr b="0" i="0" sz="1100" u="none" cap="none" strike="noStrike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rama-b: El código que estás intentando fusionar (Incoming Change).</a:t>
            </a:r>
            <a:endParaRPr/>
          </a:p>
        </p:txBody>
      </p:sp>
      <p:sp>
        <p:nvSpPr>
          <p:cNvPr id="156" name="Google Shape;156;p16"/>
          <p:cNvSpPr/>
          <p:nvPr/>
        </p:nvSpPr>
        <p:spPr>
          <a:xfrm>
            <a:off x="315812" y="3873350"/>
            <a:ext cx="72000" cy="698700"/>
          </a:xfrm>
          <a:prstGeom prst="rect">
            <a:avLst/>
          </a:prstGeom>
          <a:solidFill>
            <a:srgbClr val="F4433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415588" y="3873347"/>
            <a:ext cx="8412600" cy="698700"/>
          </a:xfrm>
          <a:prstGeom prst="rect">
            <a:avLst/>
          </a:prstGeom>
          <a:solidFill>
            <a:srgbClr val="FDE8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488738" y="3909936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44336"/>
                </a:solidFill>
                <a:latin typeface="Poppins"/>
                <a:ea typeface="Poppins"/>
                <a:cs typeface="Poppins"/>
                <a:sym typeface="Poppins"/>
              </a:rPr>
              <a:t>🚫 AVISO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Error de Novato:</a:t>
            </a:r>
            <a:r>
              <a:rPr b="0" i="0" lang="en-US" sz="10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0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En archivos largos es fácil pasarse de largo un conflicto. Para ir a la segura, usá el panel de Source Control (Control de código fuente) en el lateral izquierdo de VS Code. Los archivos con conflictos tienen una letra “C” o “U”. Hacé clic en ellos y scrollea para ir  de un conflicto a otro sin riesgo de perderte ninguno.</a:t>
            </a:r>
            <a:endParaRPr/>
          </a:p>
        </p:txBody>
      </p:sp>
      <p:pic>
        <p:nvPicPr>
          <p:cNvPr id="159" name="Google Shape;15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275" y="2120478"/>
            <a:ext cx="7524750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26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Checkpoint de Procesos 🛑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03  /  Git Avanzado — Trabajo en Equipo 🌿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en-US" sz="20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Checkpoint de Procesos 🛑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03  /  Git Avanzado — Trabajo en Equipo 🌿</a:t>
            </a:r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319975" y="1017728"/>
            <a:ext cx="63900" cy="680400"/>
          </a:xfrm>
          <a:prstGeom prst="rect">
            <a:avLst/>
          </a:prstGeom>
          <a:solidFill>
            <a:srgbClr val="FF98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411415" y="1017728"/>
            <a:ext cx="8412600" cy="680400"/>
          </a:xfrm>
          <a:prstGeom prst="rect">
            <a:avLst/>
          </a:prstGeom>
          <a:solidFill>
            <a:srgbClr val="FFF2E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484563" y="1054311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9800"/>
                </a:solidFill>
                <a:latin typeface="Poppins"/>
                <a:ea typeface="Poppins"/>
                <a:cs typeface="Poppins"/>
                <a:sym typeface="Poppins"/>
              </a:rPr>
              <a:t>⚠️ IMPORTANTE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Estás en la rama `main` y ejecutás `git merge feature-login`.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La terminal arroja un error: `CONFLICT (content): Merge conflict in index.html`.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¿Qué debés hacer antes de poder hacer un nuevo commit?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310946" y="1796110"/>
            <a:ext cx="85221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Buscá el archivo index.html</a:t>
            </a:r>
            <a:r>
              <a:rPr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 (estará marcado con una C de conflicto o una U de Unmerged en el panel de Control de Cambios).</a:t>
            </a:r>
            <a:endParaRPr sz="1100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Usá los</a:t>
            </a:r>
            <a:r>
              <a:rPr b="1"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 botones flotantes</a:t>
            </a:r>
            <a:r>
              <a:rPr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 que te da VS Code sobre las líneas de código pintadas de color para elegir la opción correcta:</a:t>
            </a:r>
            <a:endParaRPr sz="1100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3744"/>
              </a:buClr>
              <a:buSzPts val="1100"/>
              <a:buFont typeface="Raleway"/>
              <a:buChar char="●"/>
            </a:pPr>
            <a:r>
              <a:rPr b="1"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Accept Current Change</a:t>
            </a:r>
            <a:r>
              <a:rPr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 (quedarte con lo que estaba en main).</a:t>
            </a:r>
            <a:endParaRPr sz="1100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3744"/>
              </a:buClr>
              <a:buSzPts val="1100"/>
              <a:buFont typeface="Raleway"/>
              <a:buChar char="●"/>
            </a:pPr>
            <a:r>
              <a:rPr b="1"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Accept Incoming Change</a:t>
            </a:r>
            <a:r>
              <a:rPr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 (traer lo nuevo de feature-login).</a:t>
            </a:r>
            <a:endParaRPr sz="1100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3744"/>
              </a:buClr>
              <a:buSzPts val="1100"/>
              <a:buFont typeface="Raleway"/>
              <a:buChar char="●"/>
            </a:pPr>
            <a:r>
              <a:rPr b="1"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Accept Both Changes</a:t>
            </a:r>
            <a:r>
              <a:rPr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 (combinar ambos).</a:t>
            </a:r>
            <a:endParaRPr sz="1100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Preparar el archivo (Stage):</a:t>
            </a:r>
            <a:r>
              <a:rPr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 Ejecutá git add index.html (o git add .) en la terminal para notificarle a Git que ese conflicto ya está resuelto.</a:t>
            </a:r>
            <a:endParaRPr sz="1100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Ejecutá git commit</a:t>
            </a:r>
            <a:r>
              <a:rPr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 (podés dejar el mensaje por defecto que genera Git o agregar uno propio como git commit -m "Merge: conflictos resueltos") para cerrar formalmente el proceso de merge.</a:t>
            </a:r>
            <a:endParaRPr sz="1100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Actualizar el repositorio remoto: </a:t>
            </a:r>
            <a:r>
              <a:rPr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Ejecutá git push origin master para subir la fusión limpia a GitHub y que impacte en el proyecto definitivo.</a:t>
            </a:r>
            <a:endParaRPr sz="1100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26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Pull Requests (PRs) en GitHub 🔀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03  /  Git Avanzado — Trabajo en Equipo 🌿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en-US" sz="20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Pull Requests (PRs) en GitHub 🔀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03  /  Git Avanzado — Trabajo en Equipo 🌿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310946" y="1280135"/>
            <a:ext cx="8522100" cy="22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No es un comando de Git:</a:t>
            </a:r>
            <a:r>
              <a:rPr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 Un Pull Request (PR) no existe dentro de la terminal de </a:t>
            </a:r>
            <a:r>
              <a:rPr b="1"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Git</a:t>
            </a:r>
            <a:r>
              <a:rPr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. Es una funcionalidad exclusiva de plataformas en la nube como </a:t>
            </a:r>
            <a:r>
              <a:rPr b="1"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GitHub, GitLab o Bitbucket</a:t>
            </a:r>
            <a:r>
              <a:rPr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 para gestionar el trabajo en equipo.</a:t>
            </a:r>
            <a:endParaRPr sz="1100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¿Merge Request?</a:t>
            </a:r>
            <a:r>
              <a:rPr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 Dependiendo de la plataforma que use la empresa, el nombre cambia pero el concepto es exactamente el mismo. En GitHub se le llama </a:t>
            </a:r>
            <a:r>
              <a:rPr b="1"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Pull Request</a:t>
            </a:r>
            <a:r>
              <a:rPr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, mientras que en GitLab se le conoce formalmente como </a:t>
            </a:r>
            <a:r>
              <a:rPr b="1"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Merge Request (MR)</a:t>
            </a:r>
            <a:r>
              <a:rPr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  <a:endParaRPr sz="1100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La analogía real:</a:t>
            </a:r>
            <a:r>
              <a:rPr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 Significa literalmente: </a:t>
            </a:r>
            <a:r>
              <a:rPr b="1" lang="en-US" sz="1100" u="sng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"Hice estos cambios en mi rama, por favor tira (pull) de ellos o fusiónalos (merge)"</a:t>
            </a:r>
            <a:r>
              <a:rPr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. En el día a día, es una petición formal al equipo o al líder técnico (Code Reviewer) que dice: </a:t>
            </a:r>
            <a:r>
              <a:rPr b="1"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"Revisen mi código; si está todo bien, denme aprobación para integrarlo en la rama principal (master) o de testing"</a:t>
            </a:r>
            <a:r>
              <a:rPr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  <a:endParaRPr sz="1100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El filtro de calidad (Code Review): </a:t>
            </a:r>
            <a:r>
              <a:rPr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Es el espacio donde otros desarrolladores auditan tu código línea por línea. Permite dejar comentarios, sugerir mejoras, debatir la arquitectura y correr pruebas automatizadas (CI/CD) para verificar que nada se rompa antes de la integración definitiva. Y evitar </a:t>
            </a:r>
            <a:r>
              <a:rPr b="1"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deuda técnica</a:t>
            </a:r>
            <a:r>
              <a:rPr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  <a:endParaRPr sz="1100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274200" y="4018101"/>
            <a:ext cx="63900" cy="514200"/>
          </a:xfrm>
          <a:prstGeom prst="rect">
            <a:avLst/>
          </a:prstGeom>
          <a:solidFill>
            <a:srgbClr val="FF980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365640" y="4018101"/>
            <a:ext cx="8412600" cy="514200"/>
          </a:xfrm>
          <a:prstGeom prst="rect">
            <a:avLst/>
          </a:prstGeom>
          <a:solidFill>
            <a:srgbClr val="FFF2E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438788" y="4054686"/>
            <a:ext cx="822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9800"/>
                </a:solidFill>
                <a:latin typeface="Poppins"/>
                <a:ea typeface="Poppins"/>
                <a:cs typeface="Poppins"/>
                <a:sym typeface="Poppins"/>
              </a:rPr>
              <a:t>⚠️ IMPORTANTE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💡 En resumen: El </a:t>
            </a:r>
            <a:r>
              <a:rPr b="1" lang="en-US" sz="10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PR/MR</a:t>
            </a:r>
            <a:r>
              <a:rPr lang="en-US" sz="10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 es la barrera de seguridad que transforma el código individual en código de equipo, garantizando la estabilidad de la fuente de la verdad.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26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git stash: El Cajón de las Ideas a Medias 🗄️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03  /  Git Avanzado — Trabajo en Equipo 🌿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en-US" sz="20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git stash: El Cajón de las Ideas a Medias 🗄️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03  /  Git Avanzado — Trabajo en Equipo 🌿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310950" y="1421352"/>
            <a:ext cx="85221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Estás trabajando en una funcionalidad compleja a mitad de camino y tus archivos no </a:t>
            </a:r>
            <a:r>
              <a:rPr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funcionan bien</a:t>
            </a:r>
            <a:r>
              <a:rPr b="0" i="0" lang="en-US" sz="11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De repente, te piden solucionar un bug crítico en main de forma urgente.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No podés cambiar de rama porque tenés cambios sin commitear, pero no querés hacer un commit de código roto.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Solución </a:t>
            </a:r>
            <a:r>
              <a:rPr b="1"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💡</a:t>
            </a:r>
            <a:r>
              <a:rPr b="1" i="0" lang="en-US" sz="11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</a:t>
            </a:r>
            <a:r>
              <a:rPr b="1" i="0" lang="en-US" sz="11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git stash</a:t>
            </a:r>
            <a:r>
              <a:rPr b="0" i="0" lang="en-US" sz="11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 → Guarda tus cambios en un cajón temporal y te deja el repositorio limpio.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Hacés la reparación en main y la subís.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Volvés a tu rama y ejecutás </a:t>
            </a:r>
            <a:r>
              <a:rPr b="1" i="0" lang="en-US" sz="11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git stash pop</a:t>
            </a:r>
            <a:r>
              <a:rPr b="0" i="0" lang="en-US" sz="11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 → Recuperás tus cambios a medias exactamente donde los dejaste.</a:t>
            </a:r>
            <a:endParaRPr/>
          </a:p>
        </p:txBody>
      </p:sp>
      <p:pic>
        <p:nvPicPr>
          <p:cNvPr id="205" name="Google Shape;20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9948" y="2698750"/>
            <a:ext cx="2039925" cy="203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26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📝 Ejercicio de Clase</a:t>
            </a:r>
            <a:endParaRPr/>
          </a:p>
        </p:txBody>
      </p:sp>
      <p:sp>
        <p:nvSpPr>
          <p:cNvPr id="211" name="Google Shape;211;p2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03  /  Git Avanzado — Trabajo en Equipo 🌿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en-US" sz="20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📝 Ejercicio de Clase</a:t>
            </a:r>
            <a:endParaRPr/>
          </a:p>
        </p:txBody>
      </p:sp>
      <p:sp>
        <p:nvSpPr>
          <p:cNvPr id="217" name="Google Shape;217;p24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03  /  Git Avanzado — Trabajo en Equipo 🌿</a:t>
            </a:r>
            <a:endParaRPr/>
          </a:p>
        </p:txBody>
      </p:sp>
      <p:sp>
        <p:nvSpPr>
          <p:cNvPr id="218" name="Google Shape;218;p24"/>
          <p:cNvSpPr txBox="1"/>
          <p:nvPr/>
        </p:nvSpPr>
        <p:spPr>
          <a:xfrm>
            <a:off x="310896" y="1280160"/>
            <a:ext cx="85221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Actividad: Conflictos de Merge en Git</a:t>
            </a:r>
            <a:endParaRPr b="1" sz="1300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Crea una rama llamada </a:t>
            </a:r>
            <a:r>
              <a:rPr b="1"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desarrollo</a:t>
            </a:r>
            <a:r>
              <a:rPr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: git checkout -b desarrollo</a:t>
            </a:r>
            <a:endParaRPr sz="1100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Modifica </a:t>
            </a:r>
            <a:r>
              <a:rPr b="1"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index.html </a:t>
            </a:r>
            <a:r>
              <a:rPr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agregando: &lt;h1&gt;Rama Desarrollo&lt;/h1&gt;</a:t>
            </a:r>
            <a:endParaRPr sz="1100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Guarda, hace git add . y git commit -m "feat: test branch"</a:t>
            </a:r>
            <a:endParaRPr sz="1100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Vuelve a </a:t>
            </a:r>
            <a:r>
              <a:rPr b="1"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master</a:t>
            </a:r>
            <a:r>
              <a:rPr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: git checkout master. Observa como el titulo desaparece del editor</a:t>
            </a:r>
            <a:endParaRPr sz="1100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Modifica index.html en </a:t>
            </a:r>
            <a:r>
              <a:rPr b="1"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master </a:t>
            </a:r>
            <a:r>
              <a:rPr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con un titulo diferente en la misma linea: &lt;h1&gt;Rama Principal&lt;/h1&gt;</a:t>
            </a:r>
            <a:endParaRPr sz="1100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Hace git add . y git commit -m "feat: main title"</a:t>
            </a:r>
            <a:endParaRPr sz="1100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Visualiza la divergencia: git log --oneline --graph --all</a:t>
            </a:r>
            <a:endParaRPr sz="1100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Intenta fusionar: </a:t>
            </a:r>
            <a:r>
              <a:rPr b="1"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git merge desarrollo</a:t>
            </a:r>
            <a:endParaRPr b="1" sz="1100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Conflicto detectado! Abrí VS Code, resolvé el conflicto, guardá y finalizá con git add . y git commit -m "merge: resolve conflicts". Luego pusheá con git push.</a:t>
            </a:r>
            <a:endParaRPr sz="1100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5"/>
          <p:cNvSpPr txBox="1"/>
          <p:nvPr/>
        </p:nvSpPr>
        <p:spPr>
          <a:xfrm>
            <a:off x="1170000" y="1051197"/>
            <a:ext cx="6467400" cy="32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Documentación Oficial de Tecnologías</a:t>
            </a:r>
            <a:endParaRPr b="0" i="0" sz="2200" u="none" cap="none" strike="noStrike">
              <a:solidFill>
                <a:srgbClr val="30426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30426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BC182C"/>
                </a:solidFill>
                <a:latin typeface="Raleway"/>
                <a:ea typeface="Raleway"/>
                <a:cs typeface="Raleway"/>
                <a:sym typeface="Raleway"/>
              </a:rPr>
              <a:t>Git  </a:t>
            </a:r>
            <a:r>
              <a:rPr b="0" i="0" lang="en-US" sz="1300" u="none" cap="none" strike="noStrike">
                <a:solidFill>
                  <a:srgbClr val="304269"/>
                </a:solidFill>
                <a:latin typeface="Raleway"/>
                <a:ea typeface="Raleway"/>
                <a:cs typeface="Raleway"/>
                <a:sym typeface="Raleway"/>
              </a:rPr>
              <a:t>https://git-scm.com/doc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BC182C"/>
                </a:solidFill>
                <a:latin typeface="Raleway"/>
                <a:ea typeface="Raleway"/>
                <a:cs typeface="Raleway"/>
                <a:sym typeface="Raleway"/>
              </a:rPr>
              <a:t>GitHub  </a:t>
            </a:r>
            <a:r>
              <a:rPr b="0" i="0" lang="en-US" sz="1300" u="none" cap="none" strike="noStrike">
                <a:solidFill>
                  <a:srgbClr val="304269"/>
                </a:solidFill>
                <a:latin typeface="Raleway"/>
                <a:ea typeface="Raleway"/>
                <a:cs typeface="Raleway"/>
                <a:sym typeface="Raleway"/>
              </a:rPr>
              <a:t>https://docs.github.com/es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BC182C"/>
                </a:solidFill>
                <a:latin typeface="Raleway"/>
                <a:ea typeface="Raleway"/>
                <a:cs typeface="Raleway"/>
                <a:sym typeface="Raleway"/>
              </a:rPr>
              <a:t>HTML  </a:t>
            </a:r>
            <a:r>
              <a:rPr b="0" i="0" lang="en-US" sz="1300" u="none" cap="none" strike="noStrike">
                <a:solidFill>
                  <a:srgbClr val="304269"/>
                </a:solidFill>
                <a:latin typeface="Raleway"/>
                <a:ea typeface="Raleway"/>
                <a:cs typeface="Raleway"/>
                <a:sym typeface="Raleway"/>
              </a:rPr>
              <a:t>https://developer.mozilla.org/es/docs/Web/HTML</a:t>
            </a:r>
            <a:endParaRPr/>
          </a:p>
        </p:txBody>
      </p:sp>
      <p:sp>
        <p:nvSpPr>
          <p:cNvPr id="224" name="Google Shape;224;p25"/>
          <p:cNvSpPr txBox="1"/>
          <p:nvPr/>
        </p:nvSpPr>
        <p:spPr>
          <a:xfrm>
            <a:off x="685800" y="4823460"/>
            <a:ext cx="61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03  /  Git Avanzado — Trabajo en Equipo 🌿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"/>
          <p:cNvSpPr txBox="1"/>
          <p:nvPr/>
        </p:nvSpPr>
        <p:spPr>
          <a:xfrm>
            <a:off x="1338300" y="1339822"/>
            <a:ext cx="6467400" cy="32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13A8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¡Muchas Gracias!</a:t>
            </a:r>
            <a:endParaRPr b="0" i="0" sz="2500" u="none" cap="none" strike="noStrike">
              <a:solidFill>
                <a:srgbClr val="013A8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13A8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13A8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¡Hasta la próxima!</a:t>
            </a:r>
            <a:endParaRPr b="0" i="0" sz="2500" u="none" cap="none" strike="noStrike">
              <a:solidFill>
                <a:srgbClr val="013A8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13A8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sng" cap="none" strike="noStrike">
                <a:solidFill>
                  <a:srgbClr val="013A8E"/>
                </a:solidFill>
                <a:latin typeface="Poppins Medium"/>
                <a:ea typeface="Poppins Medium"/>
                <a:cs typeface="Poppins Medium"/>
                <a:sym typeface="Poppins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Centro de e-learning</a:t>
            </a:r>
            <a:endParaRPr b="0" i="0" sz="2500" u="none" cap="none" strike="noStrike">
              <a:solidFill>
                <a:srgbClr val="013A8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30" name="Google Shape;230;p26"/>
          <p:cNvSpPr txBox="1"/>
          <p:nvPr/>
        </p:nvSpPr>
        <p:spPr>
          <a:xfrm>
            <a:off x="685800" y="4823460"/>
            <a:ext cx="61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03  /  Git Avanzado — Trabajo en Equipo 🌿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
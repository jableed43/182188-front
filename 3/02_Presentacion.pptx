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y="5143500" cx="9144000"/>
  <p:notesSz cx="6858000" cy="9144000"/>
  <p:embeddedFontLst>
    <p:embeddedFont>
      <p:font typeface="Raleway"/>
      <p:regular r:id="rId38"/>
      <p:bold r:id="rId39"/>
      <p:italic r:id="rId40"/>
      <p:boldItalic r:id="rId41"/>
    </p:embeddedFont>
    <p:embeddedFont>
      <p:font typeface="Raleway SemiBold"/>
      <p:regular r:id="rId42"/>
      <p:bold r:id="rId43"/>
      <p:italic r:id="rId44"/>
      <p:boldItalic r:id="rId45"/>
    </p:embeddedFont>
    <p:embeddedFont>
      <p:font typeface="Poppins"/>
      <p:regular r:id="rId46"/>
      <p:bold r:id="rId47"/>
      <p:italic r:id="rId48"/>
      <p:boldItalic r:id="rId49"/>
    </p:embeddedFont>
    <p:embeddedFont>
      <p:font typeface="Poppins Medium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56">
          <p15:clr>
            <a:srgbClr val="9AA0A6"/>
          </p15:clr>
        </p15:guide>
        <p15:guide id="2" pos="737">
          <p15:clr>
            <a:srgbClr val="9AA0A6"/>
          </p15:clr>
        </p15:guide>
        <p15:guide id="3" pos="5587">
          <p15:clr>
            <a:srgbClr val="9AA0A6"/>
          </p15:clr>
        </p15:guide>
        <p15:guide id="4" orient="horz" pos="3084">
          <p15:clr>
            <a:srgbClr val="9AA0A6"/>
          </p15:clr>
        </p15:guide>
        <p15:guide id="5" orient="horz" pos="540">
          <p15:clr>
            <a:srgbClr val="9AA0A6"/>
          </p15:clr>
        </p15:guide>
      </p15:sldGuideLst>
    </p:ext>
    <p:ext uri="GoogleSlidesCustomDataVersion2">
      <go:slidesCustomData xmlns:go="http://customooxmlschemas.google.com/" r:id="rId54" roundtripDataSignature="AMtx7mjOt3ScTTpzUgrv++Sl/1cxJfmyPQ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Javier Lopez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69E34EB-94D4-4E56-90EC-71C07C54EF3F}">
  <a:tblStyle styleId="{969E34EB-94D4-4E56-90EC-71C07C54EF3F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1E8"/>
          </a:solidFill>
        </a:fill>
      </a:tcStyle>
    </a:wholeTbl>
    <a:band1H>
      <a:tcTxStyle/>
      <a:tcStyle>
        <a:fill>
          <a:solidFill>
            <a:srgbClr val="FFE2CD"/>
          </a:solidFill>
        </a:fill>
      </a:tcStyle>
    </a:band1H>
    <a:band2H>
      <a:tcTxStyle/>
    </a:band2H>
    <a:band1V>
      <a:tcTxStyle/>
      <a:tcStyle>
        <a:fill>
          <a:solidFill>
            <a:srgbClr val="FFE2CD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56" orient="horz"/>
        <p:guide pos="737"/>
        <p:guide pos="5587"/>
        <p:guide pos="3084" orient="horz"/>
        <p:guide pos="54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Raleway-italic.fntdata"/><Relationship Id="rId42" Type="http://schemas.openxmlformats.org/officeDocument/2006/relationships/font" Target="fonts/RalewaySemiBold-regular.fntdata"/><Relationship Id="rId41" Type="http://schemas.openxmlformats.org/officeDocument/2006/relationships/font" Target="fonts/Raleway-boldItalic.fntdata"/><Relationship Id="rId44" Type="http://schemas.openxmlformats.org/officeDocument/2006/relationships/font" Target="fonts/RalewaySemiBold-italic.fntdata"/><Relationship Id="rId43" Type="http://schemas.openxmlformats.org/officeDocument/2006/relationships/font" Target="fonts/RalewaySemiBold-bold.fntdata"/><Relationship Id="rId46" Type="http://schemas.openxmlformats.org/officeDocument/2006/relationships/font" Target="fonts/Poppins-regular.fntdata"/><Relationship Id="rId45" Type="http://schemas.openxmlformats.org/officeDocument/2006/relationships/font" Target="fonts/RalewaySemiBold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font" Target="fonts/Poppins-italic.fntdata"/><Relationship Id="rId47" Type="http://schemas.openxmlformats.org/officeDocument/2006/relationships/font" Target="fonts/Poppins-bold.fntdata"/><Relationship Id="rId49" Type="http://schemas.openxmlformats.org/officeDocument/2006/relationships/font" Target="fonts/Poppins-boldItalic.fntdata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font" Target="fonts/Raleway-bold.fntdata"/><Relationship Id="rId38" Type="http://schemas.openxmlformats.org/officeDocument/2006/relationships/font" Target="fonts/Raleway-regular.fntdata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PoppinsMedium-bold.fntdata"/><Relationship Id="rId50" Type="http://schemas.openxmlformats.org/officeDocument/2006/relationships/font" Target="fonts/PoppinsMedium-regular.fntdata"/><Relationship Id="rId53" Type="http://schemas.openxmlformats.org/officeDocument/2006/relationships/font" Target="fonts/PoppinsMedium-boldItalic.fntdata"/><Relationship Id="rId52" Type="http://schemas.openxmlformats.org/officeDocument/2006/relationships/font" Target="fonts/PoppinsMedium-italic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54" Type="http://customschemas.google.com/relationships/presentationmetadata" Target="meta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6-23T16:37:53.452">
    <p:pos x="6000" y="0"/>
    <p:text>@cyntia.barroso@redtecnologica.org Este es el resultado de la segunda presentación. Ya lo utilicé ayer y hubieron buenos resultados.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-OKEpaY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" name="Google Shape;5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3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1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2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2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26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0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hyperlink" Target="http://www.centrodeelearning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i="0" lang="en-US" sz="32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Git y GitHub — </a:t>
            </a:r>
            <a:r>
              <a:rPr b="1" lang="en-US" sz="32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Git y GitHub: El flujo de trabajo profesional</a:t>
            </a:r>
            <a:r>
              <a:rPr b="1" i="0" lang="en-US" sz="32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 🐙</a:t>
            </a:r>
            <a:endParaRPr/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000">
                <a:solidFill>
                  <a:srgbClr val="666666"/>
                </a:solidFill>
                <a:latin typeface="Poppins"/>
                <a:ea typeface="Poppins"/>
                <a:cs typeface="Poppins"/>
                <a:sym typeface="Poppins"/>
              </a:rPr>
              <a:t>Módulo 1: Arquitectura y Maquetación Moderna</a:t>
            </a:r>
            <a:endParaRPr/>
          </a:p>
        </p:txBody>
      </p:sp>
      <p:sp>
        <p:nvSpPr>
          <p:cNvPr id="56" name="Google Shape;56;p1"/>
          <p:cNvSpPr txBox="1"/>
          <p:nvPr/>
        </p:nvSpPr>
        <p:spPr>
          <a:xfrm>
            <a:off x="685800" y="4823460"/>
            <a:ext cx="61630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"/>
          <p:cNvSpPr txBox="1"/>
          <p:nvPr/>
        </p:nvSpPr>
        <p:spPr>
          <a:xfrm>
            <a:off x="3782463" y="1119842"/>
            <a:ext cx="3933900" cy="12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US" sz="3400" u="none" cap="none" strike="noStrike">
                <a:solidFill>
                  <a:srgbClr val="353744"/>
                </a:solidFill>
                <a:latin typeface="Poppins"/>
                <a:ea typeface="Poppins"/>
                <a:cs typeface="Poppins"/>
                <a:sym typeface="Poppins"/>
              </a:rPr>
              <a:t>Clase 02</a:t>
            </a:r>
            <a:endParaRPr b="1" i="0" sz="3400" u="none" cap="none" strike="noStrike">
              <a:solidFill>
                <a:srgbClr val="353744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2" name="Google Shape;62;p2"/>
          <p:cNvSpPr txBox="1"/>
          <p:nvPr/>
        </p:nvSpPr>
        <p:spPr>
          <a:xfrm>
            <a:off x="3822300" y="1786150"/>
            <a:ext cx="4210500" cy="12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53744"/>
              </a:buClr>
              <a:buSzPts val="1400"/>
              <a:buFont typeface="Arial"/>
              <a:buNone/>
            </a:pPr>
            <a:r>
              <a:rPr b="1" i="0" lang="en-US" sz="10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Objetivos de la Clase</a:t>
            </a:r>
            <a:endParaRPr b="0" i="0" sz="1600" u="none" cap="none" strike="noStrike">
              <a:solidFill>
                <a:srgbClr val="353744"/>
              </a:solidFill>
              <a:latin typeface="Raleway SemiBold"/>
              <a:ea typeface="Raleway SemiBold"/>
              <a:cs typeface="Raleway SemiBold"/>
              <a:sym typeface="Raleway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¿Por qué Git? El Problema Sin Solución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Git vs GitHub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El Repositorio y la Carpeta Oculta .git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El Commit: La Foto del Código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Configuración Inicial Obligatoria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La Analogía de la Cocina (Flujo Local)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Comandos del Día a Día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Checkpoint de Control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Conectando con la Nube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"/>
              <a:buFont typeface="Arial"/>
              <a:buNone/>
            </a:pPr>
            <a:r>
              <a:rPr b="1" i="0" lang="en-US" sz="105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Buenas Prácticas de Commits (Estándares)</a:t>
            </a:r>
            <a:endParaRPr sz="1600"/>
          </a:p>
        </p:txBody>
      </p:sp>
      <p:pic>
        <p:nvPicPr>
          <p:cNvPr id="63" name="Google Shape;63;p2"/>
          <p:cNvPicPr preferRelativeResize="0"/>
          <p:nvPr/>
        </p:nvPicPr>
        <p:blipFill rotWithShape="1">
          <a:blip r:embed="rId3">
            <a:alphaModFix/>
          </a:blip>
          <a:srcRect b="1028" l="18181" r="18181" t="1019"/>
          <a:stretch/>
        </p:blipFill>
        <p:spPr>
          <a:xfrm>
            <a:off x="551650" y="1066225"/>
            <a:ext cx="2638500" cy="27076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2"/>
          <p:cNvSpPr txBox="1"/>
          <p:nvPr/>
        </p:nvSpPr>
        <p:spPr>
          <a:xfrm>
            <a:off x="685800" y="4823460"/>
            <a:ext cx="61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/>
          </a:p>
        </p:txBody>
      </p:sp>
      <p:sp>
        <p:nvSpPr>
          <p:cNvPr id="70" name="Google Shape;70;p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Objetivos de la Clase</a:t>
            </a:r>
            <a:endParaRPr/>
          </a:p>
        </p:txBody>
      </p:sp>
      <p:sp>
        <p:nvSpPr>
          <p:cNvPr id="76" name="Google Shape;76;p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  <p:sp>
        <p:nvSpPr>
          <p:cNvPr id="77" name="Google Shape;77;p4"/>
          <p:cNvSpPr txBox="1"/>
          <p:nvPr/>
        </p:nvSpPr>
        <p:spPr>
          <a:xfrm>
            <a:off x="310896" y="1280160"/>
            <a:ext cx="85221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Configurar tu identidad global de Git.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Dominar el flujo de trabajo local: </a:t>
            </a:r>
            <a:r>
              <a:rPr b="0" i="0" lang="en-US" sz="18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add, commit, log, status.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Comprender el propósito del área de preparación (Staging Area).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Crear y conectar tu primer repositorio remoto en GitHub.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Aplicar buenas prácticas en la nomenclatura de Commits.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¿Por qué Git? El Problema Sin Solución</a:t>
            </a:r>
            <a:endParaRPr/>
          </a:p>
        </p:txBody>
      </p:sp>
      <p:sp>
        <p:nvSpPr>
          <p:cNvPr id="83" name="Google Shape;83;p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¿Por qué Git? El Problema Sin Solución</a:t>
            </a:r>
            <a:endParaRPr/>
          </a:p>
        </p:txBody>
      </p:sp>
      <p:sp>
        <p:nvSpPr>
          <p:cNvPr id="89" name="Google Shape;89;p6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  <p:sp>
        <p:nvSpPr>
          <p:cNvPr id="90" name="Google Shape;90;p6"/>
          <p:cNvSpPr txBox="1"/>
          <p:nvPr/>
        </p:nvSpPr>
        <p:spPr>
          <a:xfrm>
            <a:off x="310946" y="2125360"/>
            <a:ext cx="8522100" cy="149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tesis.doc → tesis_final.doc → tesis_final_ESTA_SI.doc... 😱</a:t>
            </a:r>
            <a:endParaRPr b="0" i="0" sz="1300" u="none" cap="none" strike="noStrike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Git es una máquina del tiempo para tu código.</a:t>
            </a:r>
            <a:endParaRPr b="0" i="0" sz="1300" u="none" cap="none" strike="noStrike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Guarda instantáneas completas de tu proyecto en el tiempo.</a:t>
            </a:r>
            <a:endParaRPr b="0" i="0" sz="1300" u="none" cap="none" strike="noStrike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Funciona 100% </a:t>
            </a:r>
            <a:r>
              <a:rPr b="1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offline</a:t>
            </a: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: todo el historial está en tu propio disco duro.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Git vs GitHub 🥊</a:t>
            </a:r>
            <a:endParaRPr/>
          </a:p>
        </p:txBody>
      </p:sp>
      <p:sp>
        <p:nvSpPr>
          <p:cNvPr id="96" name="Google Shape;96;p7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Git vs GitHub 🥊</a:t>
            </a:r>
            <a:endParaRPr/>
          </a:p>
        </p:txBody>
      </p:sp>
      <p:sp>
        <p:nvSpPr>
          <p:cNvPr id="102" name="Google Shape;102;p8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  <p:graphicFrame>
        <p:nvGraphicFramePr>
          <p:cNvPr id="103" name="Google Shape;103;p8"/>
          <p:cNvGraphicFramePr/>
          <p:nvPr/>
        </p:nvGraphicFramePr>
        <p:xfrm>
          <a:off x="457200" y="18426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{969E34EB-94D4-4E56-90EC-71C07C54EF3F}</a:tableStyleId>
              </a:tblPr>
              <a:tblGrid>
                <a:gridCol w="2743200"/>
                <a:gridCol w="2743200"/>
                <a:gridCol w="2743200"/>
              </a:tblGrid>
              <a:tr h="35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Característica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353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Git (La Herramienta)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353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GitHub (La Nube)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353744"/>
                    </a:solidFill>
                  </a:tcPr>
                </a:tc>
              </a:tr>
              <a:tr h="35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¿Qué es?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Software local de control de versiones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Plataforma web de almacenamiento y colaboración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35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Internet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❌ No necesita para registrar cambios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✅ Requiere para subir o sincronizar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352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Analogía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La cámara de fotos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1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Instagram (donde subís y compartís las fotos)</a:t>
                      </a:r>
                      <a:endParaRPr sz="1600"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El Repositorio y la Carpeta Oculta .git</a:t>
            </a:r>
            <a:endParaRPr/>
          </a:p>
        </p:txBody>
      </p:sp>
      <p:sp>
        <p:nvSpPr>
          <p:cNvPr id="109" name="Google Shape;109;p9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El Repositorio y la Carpeta Oculta .git</a:t>
            </a:r>
            <a:endParaRPr/>
          </a:p>
        </p:txBody>
      </p:sp>
      <p:sp>
        <p:nvSpPr>
          <p:cNvPr id="115" name="Google Shape;115;p10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  <p:sp>
        <p:nvSpPr>
          <p:cNvPr id="116" name="Google Shape;116;p10"/>
          <p:cNvSpPr txBox="1"/>
          <p:nvPr/>
        </p:nvSpPr>
        <p:spPr>
          <a:xfrm>
            <a:off x="256146" y="1737660"/>
            <a:ext cx="85221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Repositorio: </a:t>
            </a: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Una carpeta vigilada activamente por Git.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Cuando ejecutás git init, Git crea la subcarpeta oculta .git.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En esa carpeta vive toda la historia comprimida del proyecto.</a:t>
            </a:r>
            <a:endParaRPr sz="1600"/>
          </a:p>
        </p:txBody>
      </p:sp>
      <p:sp>
        <p:nvSpPr>
          <p:cNvPr id="117" name="Google Shape;117;p10"/>
          <p:cNvSpPr/>
          <p:nvPr/>
        </p:nvSpPr>
        <p:spPr>
          <a:xfrm>
            <a:off x="256146" y="2656060"/>
            <a:ext cx="63900" cy="533400"/>
          </a:xfrm>
          <a:prstGeom prst="rect">
            <a:avLst/>
          </a:prstGeom>
          <a:solidFill>
            <a:srgbClr val="F443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0"/>
          <p:cNvSpPr/>
          <p:nvPr/>
        </p:nvSpPr>
        <p:spPr>
          <a:xfrm>
            <a:off x="347586" y="2656060"/>
            <a:ext cx="8412600" cy="533400"/>
          </a:xfrm>
          <a:prstGeom prst="rect">
            <a:avLst/>
          </a:prstGeom>
          <a:solidFill>
            <a:srgbClr val="FDE8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0"/>
          <p:cNvSpPr txBox="1"/>
          <p:nvPr/>
        </p:nvSpPr>
        <p:spPr>
          <a:xfrm>
            <a:off x="420738" y="2692636"/>
            <a:ext cx="8229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44336"/>
                </a:solidFill>
                <a:latin typeface="Poppins"/>
                <a:ea typeface="Poppins"/>
                <a:cs typeface="Poppins"/>
                <a:sym typeface="Poppins"/>
              </a:rPr>
              <a:t>🚫 AVISO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Peligro Extremo:</a:t>
            </a:r>
            <a:r>
              <a:rPr b="0" i="0" lang="en-US" sz="12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Nunca borres la carpeta `.git`. Hacerlo es el equivalente a prender fuego el historial completo de tu proyecto para siempre.</a:t>
            </a:r>
            <a:endParaRPr sz="16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El Commit: La Foto del Código 📸</a:t>
            </a:r>
            <a:endParaRPr/>
          </a:p>
        </p:txBody>
      </p:sp>
      <p:sp>
        <p:nvSpPr>
          <p:cNvPr id="125" name="Google Shape;125;p1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El Commit: La Foto del Código 📸</a:t>
            </a:r>
            <a:endParaRPr/>
          </a:p>
        </p:txBody>
      </p:sp>
      <p:sp>
        <p:nvSpPr>
          <p:cNvPr id="131" name="Google Shape;131;p1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  <p:sp>
        <p:nvSpPr>
          <p:cNvPr id="132" name="Google Shape;132;p12"/>
          <p:cNvSpPr txBox="1"/>
          <p:nvPr/>
        </p:nvSpPr>
        <p:spPr>
          <a:xfrm>
            <a:off x="256146" y="2007660"/>
            <a:ext cx="8522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</a:t>
            </a:r>
            <a:r>
              <a:rPr b="1" i="0" lang="en-US" sz="15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Commit </a:t>
            </a:r>
            <a:r>
              <a:rPr b="0" i="0" lang="en-US" sz="15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= Guardar partida en un videojuego antes de enfrentarte al jefe final.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Cada commit genera un </a:t>
            </a:r>
            <a:r>
              <a:rPr b="1" i="0" lang="en-US" sz="15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Hash </a:t>
            </a:r>
            <a:r>
              <a:rPr b="0" i="0" lang="en-US" sz="15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SHA-1 único de 40 caracteres (ej: 1a2b3c4f...).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El hash es el </a:t>
            </a:r>
            <a:r>
              <a:rPr b="1" i="0" lang="en-US" sz="15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DNI </a:t>
            </a:r>
            <a:r>
              <a:rPr b="0" i="0" lang="en-US" sz="15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matemático, irreproducible e inmutable de ese cambio exacto.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Configuración Inicial Obligatoria ⚙️</a:t>
            </a:r>
            <a:endParaRPr/>
          </a:p>
        </p:txBody>
      </p:sp>
      <p:sp>
        <p:nvSpPr>
          <p:cNvPr id="138" name="Google Shape;138;p13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1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Código — Configuración Inicial Obligatoria ⚙️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412200" y="2689900"/>
            <a:ext cx="8229600" cy="691500"/>
          </a:xfrm>
          <a:prstGeom prst="rect">
            <a:avLst/>
          </a:prstGeom>
          <a:solidFill>
            <a:srgbClr val="1E1E1E"/>
          </a:solidFill>
          <a:ln cap="flat" cmpd="sng" w="19050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git config --global user.name "Tu Nombre"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git config --global user.email "tu@email.com"</a:t>
            </a:r>
            <a:endParaRPr sz="18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git config --global init.defaultBranch </a:t>
            </a:r>
            <a:r>
              <a:rPr lang="en-US" sz="13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master</a:t>
            </a:r>
            <a:endParaRPr sz="1800"/>
          </a:p>
        </p:txBody>
      </p:sp>
      <p:sp>
        <p:nvSpPr>
          <p:cNvPr id="146" name="Google Shape;146;p14"/>
          <p:cNvSpPr txBox="1"/>
          <p:nvPr/>
        </p:nvSpPr>
        <p:spPr>
          <a:xfrm>
            <a:off x="310946" y="1839210"/>
            <a:ext cx="8522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En pos de configurar tu cuenta debes correr los siguientes comandos</a:t>
            </a:r>
            <a:endParaRPr sz="15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Es importante usar “--global”, de esta forma queda configurado para cualquier proyecto que uses</a:t>
            </a:r>
            <a:endParaRPr sz="15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Configuración Inicial Obligatoria ⚙️ (cont.)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310946" y="1924360"/>
            <a:ext cx="85221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Esto le dice a Git de quién es cada línea de código, este sujeto se llama </a:t>
            </a:r>
            <a:r>
              <a:rPr lang="en-US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“autor”</a:t>
            </a:r>
            <a:r>
              <a:rPr b="0" i="0" lang="en-US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. ¡Se configura una sola vez en la computadora!</a:t>
            </a:r>
            <a:endParaRPr sz="1700"/>
          </a:p>
        </p:txBody>
      </p:sp>
      <p:sp>
        <p:nvSpPr>
          <p:cNvPr id="154" name="Google Shape;154;p15"/>
          <p:cNvSpPr/>
          <p:nvPr/>
        </p:nvSpPr>
        <p:spPr>
          <a:xfrm>
            <a:off x="310950" y="2519105"/>
            <a:ext cx="63900" cy="722400"/>
          </a:xfrm>
          <a:prstGeom prst="rect">
            <a:avLst/>
          </a:prstGeom>
          <a:solidFill>
            <a:srgbClr val="F4433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402390" y="2519105"/>
            <a:ext cx="8412600" cy="722400"/>
          </a:xfrm>
          <a:prstGeom prst="rect">
            <a:avLst/>
          </a:prstGeom>
          <a:solidFill>
            <a:srgbClr val="FDE8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475554" y="2568655"/>
            <a:ext cx="82296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44336"/>
                </a:solidFill>
                <a:latin typeface="Poppins"/>
                <a:ea typeface="Poppins"/>
                <a:cs typeface="Poppins"/>
                <a:sym typeface="Poppins"/>
              </a:rPr>
              <a:t>🚫 AVISO</a:t>
            </a:r>
            <a:endParaRPr sz="17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Error Común:</a:t>
            </a: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Hacer commits sin configurar tu identidad o con un mail corporativo erróneo. Los commits quedarán atribuidos a un usuario fantasma.</a:t>
            </a:r>
            <a:endParaRPr sz="17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La Analogía de la Cocina (Flujo Local) 🍳</a:t>
            </a:r>
            <a:endParaRPr/>
          </a:p>
        </p:txBody>
      </p:sp>
      <p:sp>
        <p:nvSpPr>
          <p:cNvPr id="162" name="Google Shape;162;p16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La Analogía de la Cocina (Flujo Local) 🍳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365746" y="1737660"/>
            <a:ext cx="85221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🥶 </a:t>
            </a:r>
            <a:r>
              <a:rPr b="1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Working Directory (La Heladera):</a:t>
            </a: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Archivos que estás modificando pero que aún no están listos ni guardados.</a:t>
            </a:r>
            <a:endParaRPr b="0" i="0" sz="1300" u="none" cap="none" strike="noStrike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🍽️</a:t>
            </a:r>
            <a:r>
              <a:rPr b="1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Staging Area (La Bandeja de Ingredientes):</a:t>
            </a: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Seleccionás los archivos listos que van a ir a</a:t>
            </a:r>
            <a:r>
              <a:rPr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 la sarten</a:t>
            </a: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b="0" i="0" sz="1300" u="none" cap="none" strike="noStrike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</a:t>
            </a:r>
            <a:r>
              <a:rPr b="1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📦 Repository (El Plato Terminado): </a:t>
            </a: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Git toma </a:t>
            </a:r>
            <a:r>
              <a:rPr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el plato y lo sirve en la mesa.</a:t>
            </a:r>
            <a:endParaRPr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Comandos del Día a Día 📋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Comandos del Día a Día 📋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  <p:graphicFrame>
        <p:nvGraphicFramePr>
          <p:cNvPr id="182" name="Google Shape;182;p19"/>
          <p:cNvGraphicFramePr/>
          <p:nvPr/>
        </p:nvGraphicFramePr>
        <p:xfrm>
          <a:off x="457200" y="12801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{969E34EB-94D4-4E56-90EC-71C07C54EF3F}</a:tableStyleId>
              </a:tblPr>
              <a:tblGrid>
                <a:gridCol w="4114800"/>
                <a:gridCol w="4114800"/>
              </a:tblGrid>
              <a:tr h="34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Comando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5374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00" u="none" cap="none" strike="noStrike">
                          <a:solidFill>
                            <a:srgbClr val="FFFFFF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¿Qué hace?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353744"/>
                    </a:solidFill>
                  </a:tcPr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git init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Inicia el control de versiones en la carpeta actual (1 sola vez).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git status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Muestra el estado del repo (rojo = working directory, verde = staging).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git add 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Pasa todos los cambios de la heladera a la bandeja de preparación.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git commit -m "msg"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Toma la foto del Staging Area y la sella en el historial con un mensaje.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  <a:tr h="3444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git log --oneline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00" u="none" cap="none" strike="noStrike">
                          <a:solidFill>
                            <a:srgbClr val="353744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Muestra el álbum resumido de fotos tomadas en orden cronológico.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Checkpoint de Control 🛑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Checkpoint de Control 🛑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  <p:sp>
        <p:nvSpPr>
          <p:cNvPr id="195" name="Google Shape;195;p21"/>
          <p:cNvSpPr/>
          <p:nvPr/>
        </p:nvSpPr>
        <p:spPr>
          <a:xfrm>
            <a:off x="320034" y="2076460"/>
            <a:ext cx="63900" cy="990600"/>
          </a:xfrm>
          <a:prstGeom prst="rect">
            <a:avLst/>
          </a:prstGeom>
          <a:solidFill>
            <a:srgbClr val="FF980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"/>
          <p:cNvSpPr/>
          <p:nvPr/>
        </p:nvSpPr>
        <p:spPr>
          <a:xfrm>
            <a:off x="411474" y="2076460"/>
            <a:ext cx="8412600" cy="990600"/>
          </a:xfrm>
          <a:prstGeom prst="rect">
            <a:avLst/>
          </a:prstGeom>
          <a:solidFill>
            <a:srgbClr val="FFF2E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484625" y="2113036"/>
            <a:ext cx="8229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9800"/>
                </a:solidFill>
                <a:latin typeface="Poppins"/>
                <a:ea typeface="Poppins"/>
                <a:cs typeface="Poppins"/>
                <a:sym typeface="Poppins"/>
              </a:rPr>
              <a:t>⚠️ IMPORTANTE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Modificás un archivo en el Working Directory (Heladera). Hacés un cambio brillante en el código pero NO ejecutás `git add`.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De repente, se corta la luz y la PC se reinicia.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¿Git salvó tu trabajo?</a:t>
            </a:r>
            <a:endParaRPr sz="15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*Respuesta:* No, Git solo vigila y protege los cambios que han entrado al menos una vez en su base de datos a través de `add` o `commit`.</a:t>
            </a:r>
            <a:endParaRPr sz="15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Conectando con la Nube ☁️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1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Código — Conectando con la Nube ☁️</a:t>
            </a:r>
            <a:endParaRPr/>
          </a:p>
        </p:txBody>
      </p:sp>
      <p:sp>
        <p:nvSpPr>
          <p:cNvPr id="209" name="Google Shape;209;p24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  <p:sp>
        <p:nvSpPr>
          <p:cNvPr id="210" name="Google Shape;210;p24"/>
          <p:cNvSpPr/>
          <p:nvPr/>
        </p:nvSpPr>
        <p:spPr>
          <a:xfrm>
            <a:off x="365750" y="2003345"/>
            <a:ext cx="8229600" cy="1751100"/>
          </a:xfrm>
          <a:prstGeom prst="rect">
            <a:avLst/>
          </a:prstGeom>
          <a:solidFill>
            <a:srgbClr val="1E1E1E"/>
          </a:solidFill>
          <a:ln cap="flat" cmpd="sng" w="19050">
            <a:solidFill>
              <a:srgbClr val="BC182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Esto conecta tu repositorio local con tu repositorio remoto:</a:t>
            </a:r>
            <a:endParaRPr sz="11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git remote add origin https://github.com/tu-usuario/tu-repo.git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Esto define la rama principal como master:</a:t>
            </a:r>
            <a:endParaRPr sz="11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git branch -M m</a:t>
            </a:r>
            <a:r>
              <a:rPr b="1" lang="en-US" sz="11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aster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Esto permite subir tu primer commit, </a:t>
            </a:r>
            <a:r>
              <a:rPr lang="en-US" sz="11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empujándolo</a:t>
            </a:r>
            <a:r>
              <a:rPr lang="en-US" sz="11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 a la nube. “-u” solo se usa en el primer commit, </a:t>
            </a:r>
            <a:r>
              <a:rPr lang="en-US" sz="11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después</a:t>
            </a:r>
            <a:r>
              <a:rPr lang="en-US" sz="1100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 no se usa más:</a:t>
            </a:r>
            <a:endParaRPr sz="1100">
              <a:solidFill>
                <a:srgbClr val="DCDCDC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DCDCDC"/>
                </a:solidFill>
                <a:latin typeface="Consolas"/>
                <a:ea typeface="Consolas"/>
                <a:cs typeface="Consolas"/>
                <a:sym typeface="Consolas"/>
              </a:rPr>
              <a:t>git push -u origin main</a:t>
            </a:r>
            <a:endParaRPr b="1" sz="1600"/>
          </a:p>
        </p:txBody>
      </p:sp>
      <p:sp>
        <p:nvSpPr>
          <p:cNvPr id="211" name="Google Shape;211;p24"/>
          <p:cNvSpPr txBox="1"/>
          <p:nvPr/>
        </p:nvSpPr>
        <p:spPr>
          <a:xfrm>
            <a:off x="310896" y="1280160"/>
            <a:ext cx="85221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Para vincular tu repositorio local con un repositorio vacío en GitHub: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Conectando con la Nube ☁️ (cont.)</a:t>
            </a:r>
            <a:endParaRPr/>
          </a:p>
        </p:txBody>
      </p:sp>
      <p:sp>
        <p:nvSpPr>
          <p:cNvPr id="217" name="Google Shape;217;p25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  <p:sp>
        <p:nvSpPr>
          <p:cNvPr id="218" name="Google Shape;218;p25"/>
          <p:cNvSpPr txBox="1"/>
          <p:nvPr/>
        </p:nvSpPr>
        <p:spPr>
          <a:xfrm>
            <a:off x="310946" y="1684985"/>
            <a:ext cx="8522100" cy="109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Flujo Diario de un Programador (De por vida):</a:t>
            </a:r>
            <a:endParaRPr b="1"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1. Modificar el código en VS Code.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2. git add . (poner en la bandeja).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3. git commit -m "feat: login component" (tomar foto local).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4. git push (sincronizar con la nube).</a:t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Buenas Prácticas de Commits (Estándares) ✅</a:t>
            </a:r>
            <a:endParaRPr/>
          </a:p>
        </p:txBody>
      </p:sp>
      <p:sp>
        <p:nvSpPr>
          <p:cNvPr id="224" name="Google Shape;224;p26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Buenas Prácticas de Commits (Estándares) ✅</a:t>
            </a:r>
            <a:endParaRPr/>
          </a:p>
        </p:txBody>
      </p:sp>
      <p:sp>
        <p:nvSpPr>
          <p:cNvPr id="230" name="Google Shape;230;p27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  <p:sp>
        <p:nvSpPr>
          <p:cNvPr id="231" name="Google Shape;231;p27"/>
          <p:cNvSpPr txBox="1"/>
          <p:nvPr/>
        </p:nvSpPr>
        <p:spPr>
          <a:xfrm>
            <a:off x="310946" y="1637360"/>
            <a:ext cx="8522100" cy="189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❌ git commit -m "arregle cosas" → PROHIBIDO en equipos profesionales, ya que es demasiado simple y no se entiende.</a:t>
            </a:r>
            <a:endParaRPr b="0" i="0" sz="1300" u="none" cap="none" strike="noStrike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✅ Conventional Commits: Usa prefijos semánticos para entender el historial a primera vista: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feat: </a:t>
            </a: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→ Nueva funcionalidad (ej: feat: add contact form).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fix: </a:t>
            </a: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→ Corrección de un error o bug (ej: fix: repair broken link).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docs: </a:t>
            </a: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→ Modificación de documentación (ej: docs: update readme).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style: </a:t>
            </a: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→ Cambios puramente estéticos o de formato (CSS, espacios) que no afectan lógica</a:t>
            </a:r>
            <a:r>
              <a:rPr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.</a:t>
            </a:r>
            <a:endParaRPr sz="13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chore: </a:t>
            </a:r>
            <a:r>
              <a:rPr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→ Tareas de mantenimiento general.</a:t>
            </a:r>
            <a:endParaRPr sz="13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26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📝 Ejercicio de Clase</a:t>
            </a:r>
            <a:endParaRPr/>
          </a:p>
        </p:txBody>
      </p:sp>
      <p:sp>
        <p:nvSpPr>
          <p:cNvPr id="237" name="Google Shape;237;p28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0" lang="en-US" sz="2000">
                <a:solidFill>
                  <a:srgbClr val="434343"/>
                </a:solidFill>
                <a:latin typeface="Poppins"/>
                <a:ea typeface="Poppins"/>
                <a:cs typeface="Poppins"/>
                <a:sym typeface="Poppins"/>
              </a:rPr>
              <a:t>📝 Ejercicio de Clase</a:t>
            </a:r>
            <a:endParaRPr/>
          </a:p>
        </p:txBody>
      </p:sp>
      <p:sp>
        <p:nvSpPr>
          <p:cNvPr id="243" name="Google Shape;243;p29"/>
          <p:cNvSpPr txBox="1"/>
          <p:nvPr/>
        </p:nvSpPr>
        <p:spPr>
          <a:xfrm>
            <a:off x="365760" y="4823460"/>
            <a:ext cx="8412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/>
          </a:p>
        </p:txBody>
      </p:sp>
      <p:sp>
        <p:nvSpPr>
          <p:cNvPr id="244" name="Google Shape;244;p29"/>
          <p:cNvSpPr txBox="1"/>
          <p:nvPr/>
        </p:nvSpPr>
        <p:spPr>
          <a:xfrm>
            <a:off x="310896" y="1280160"/>
            <a:ext cx="8522100" cy="20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Tu primer flujo en git:</a:t>
            </a:r>
            <a:endParaRPr b="1" sz="13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53744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Abrí Git Bash. Creá la carpeta mi-primer-repo (mkdir mi-primer-repo).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cd mi-primer-repo y ejecutá git init.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Creá un archivo index.html con el boilerplate básico de HTML.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Ejecutá git status y observá el archivo en color rojo.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Ejecutá git add . y luego git status para verlo en color verde (Staging).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Ejecutá git commit -m "chore: initial commit" para registrar tu primera foto.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Creá un repositorio público en GitHub y vinculalo con los comandos indicados en la pantalla anterior.</a:t>
            </a:r>
            <a:endParaRPr sz="16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• Subí tu código usando git push -u origin main </a:t>
            </a:r>
            <a:r>
              <a:rPr b="0" i="0" lang="en-US" sz="1300" u="none" cap="none" strike="noStrike">
                <a:solidFill>
                  <a:srgbClr val="353744"/>
                </a:solidFill>
                <a:latin typeface="Raleway"/>
                <a:ea typeface="Raleway"/>
                <a:cs typeface="Raleway"/>
                <a:sym typeface="Raleway"/>
              </a:rPr>
              <a:t>🚀</a:t>
            </a:r>
            <a:endParaRPr sz="16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0"/>
          <p:cNvSpPr txBox="1"/>
          <p:nvPr/>
        </p:nvSpPr>
        <p:spPr>
          <a:xfrm>
            <a:off x="1170000" y="1051197"/>
            <a:ext cx="6467400" cy="3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Documentación Oficial de Tecnologías</a:t>
            </a:r>
            <a:endParaRPr b="0" i="0" sz="2200" u="none" cap="none" strike="noStrike">
              <a:solidFill>
                <a:srgbClr val="30426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304269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C182C"/>
                </a:solidFill>
                <a:latin typeface="Raleway"/>
                <a:ea typeface="Raleway"/>
                <a:cs typeface="Raleway"/>
                <a:sym typeface="Raleway"/>
              </a:rPr>
              <a:t>CSS  </a:t>
            </a:r>
            <a:r>
              <a:rPr b="0" i="0" lang="en-US" sz="1300" u="none" cap="none" strike="noStrike">
                <a:solidFill>
                  <a:srgbClr val="304269"/>
                </a:solidFill>
                <a:latin typeface="Raleway"/>
                <a:ea typeface="Raleway"/>
                <a:cs typeface="Raleway"/>
                <a:sym typeface="Raleway"/>
              </a:rPr>
              <a:t>https://developer.mozilla.org/es/docs/Web/CSS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C182C"/>
                </a:solidFill>
                <a:latin typeface="Raleway"/>
                <a:ea typeface="Raleway"/>
                <a:cs typeface="Raleway"/>
                <a:sym typeface="Raleway"/>
              </a:rPr>
              <a:t>Git  </a:t>
            </a:r>
            <a:r>
              <a:rPr b="0" i="0" lang="en-US" sz="1300" u="none" cap="none" strike="noStrike">
                <a:solidFill>
                  <a:srgbClr val="304269"/>
                </a:solidFill>
                <a:latin typeface="Raleway"/>
                <a:ea typeface="Raleway"/>
                <a:cs typeface="Raleway"/>
                <a:sym typeface="Raleway"/>
              </a:rPr>
              <a:t>https://git-scm.com/doc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C182C"/>
                </a:solidFill>
                <a:latin typeface="Raleway"/>
                <a:ea typeface="Raleway"/>
                <a:cs typeface="Raleway"/>
                <a:sym typeface="Raleway"/>
              </a:rPr>
              <a:t>GitHub  </a:t>
            </a:r>
            <a:r>
              <a:rPr b="0" i="0" lang="en-US" sz="1300" u="none" cap="none" strike="noStrike">
                <a:solidFill>
                  <a:srgbClr val="304269"/>
                </a:solidFill>
                <a:latin typeface="Raleway"/>
                <a:ea typeface="Raleway"/>
                <a:cs typeface="Raleway"/>
                <a:sym typeface="Raleway"/>
              </a:rPr>
              <a:t>https://docs.github.com/es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C182C"/>
                </a:solidFill>
                <a:latin typeface="Raleway"/>
                <a:ea typeface="Raleway"/>
                <a:cs typeface="Raleway"/>
                <a:sym typeface="Raleway"/>
              </a:rPr>
              <a:t>HTML  </a:t>
            </a:r>
            <a:r>
              <a:rPr b="0" i="0" lang="en-US" sz="1300" u="none" cap="none" strike="noStrike">
                <a:solidFill>
                  <a:srgbClr val="304269"/>
                </a:solidFill>
                <a:latin typeface="Raleway"/>
                <a:ea typeface="Raleway"/>
                <a:cs typeface="Raleway"/>
                <a:sym typeface="Raleway"/>
              </a:rPr>
              <a:t>https://developer.mozilla.org/es/docs/Web/HTML</a:t>
            </a:r>
            <a:endParaRPr/>
          </a:p>
        </p:txBody>
      </p:sp>
      <p:sp>
        <p:nvSpPr>
          <p:cNvPr id="250" name="Google Shape;250;p30"/>
          <p:cNvSpPr txBox="1"/>
          <p:nvPr/>
        </p:nvSpPr>
        <p:spPr>
          <a:xfrm>
            <a:off x="685800" y="4823460"/>
            <a:ext cx="61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1"/>
          <p:cNvSpPr txBox="1"/>
          <p:nvPr/>
        </p:nvSpPr>
        <p:spPr>
          <a:xfrm>
            <a:off x="1338300" y="1339822"/>
            <a:ext cx="6467400" cy="321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13A8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¡Muchas Gracias!</a:t>
            </a:r>
            <a:endParaRPr b="0" i="0" sz="2500" u="none" cap="none" strike="noStrike">
              <a:solidFill>
                <a:srgbClr val="013A8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13A8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13A8E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¡Hasta la próxima!</a:t>
            </a:r>
            <a:endParaRPr b="0" i="0" sz="2500" u="none" cap="none" strike="noStrike">
              <a:solidFill>
                <a:srgbClr val="013A8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13A8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sng" cap="none" strike="noStrike">
                <a:solidFill>
                  <a:srgbClr val="013A8E"/>
                </a:solidFill>
                <a:latin typeface="Poppins Medium"/>
                <a:ea typeface="Poppins Medium"/>
                <a:cs typeface="Poppins Medium"/>
                <a:sym typeface="Poppins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Centro de e-learning</a:t>
            </a:r>
            <a:endParaRPr b="0" i="0" sz="2500" u="none" cap="none" strike="noStrike">
              <a:solidFill>
                <a:srgbClr val="013A8E"/>
              </a:solidFill>
              <a:latin typeface="Poppins Medium"/>
              <a:ea typeface="Poppins Medium"/>
              <a:cs typeface="Poppins Medium"/>
              <a:sym typeface="Poppins Medium"/>
            </a:endParaRPr>
          </a:p>
        </p:txBody>
      </p:sp>
      <p:sp>
        <p:nvSpPr>
          <p:cNvPr id="256" name="Google Shape;256;p31"/>
          <p:cNvSpPr txBox="1"/>
          <p:nvPr/>
        </p:nvSpPr>
        <p:spPr>
          <a:xfrm>
            <a:off x="685800" y="4823460"/>
            <a:ext cx="61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b="1" i="0" lang="en-US" sz="600" u="none" cap="none" strike="noStrike">
                <a:solidFill>
                  <a:srgbClr val="304269"/>
                </a:solidFill>
                <a:latin typeface="Poppins"/>
                <a:ea typeface="Poppins"/>
                <a:cs typeface="Poppins"/>
                <a:sym typeface="Poppins"/>
              </a:rPr>
              <a:t>Curso Front-End  /  Módulo 1: Arquitectura y Maquetación Moderna  /  Unidad 02  /  Git y GitHub — Control de Versiones 🐙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